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0" r:id="rId6"/>
    <p:sldId id="266" r:id="rId7"/>
    <p:sldId id="267" r:id="rId8"/>
    <p:sldId id="268" r:id="rId9"/>
    <p:sldId id="269" r:id="rId10"/>
    <p:sldId id="265" r:id="rId11"/>
    <p:sldId id="271" r:id="rId12"/>
    <p:sldId id="261" r:id="rId13"/>
    <p:sldId id="264" r:id="rId14"/>
    <p:sldId id="260" r:id="rId15"/>
    <p:sldId id="263" r:id="rId16"/>
    <p:sldId id="257" r:id="rId17"/>
    <p:sldId id="259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60736E-3E7C-4118-A719-C54DE63E8343}">
          <p14:sldIdLst>
            <p14:sldId id="256"/>
            <p14:sldId id="270"/>
            <p14:sldId id="266"/>
            <p14:sldId id="267"/>
            <p14:sldId id="268"/>
            <p14:sldId id="269"/>
            <p14:sldId id="265"/>
            <p14:sldId id="271"/>
          </p14:sldIdLst>
        </p14:section>
        <p14:section name="Archive" id="{F197E9B2-C347-429E-88E5-C1121571649E}">
          <p14:sldIdLst>
            <p14:sldId id="261"/>
            <p14:sldId id="264"/>
            <p14:sldId id="260"/>
            <p14:sldId id="263"/>
            <p14:sldId id="257"/>
            <p14:sldId id="259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EB1A4-B71E-465F-B86D-A24CAB975B42}" v="50" dt="2026-01-26T15:06:45.558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692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6BC8-3D56-64A8-C23F-99C560F3B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A166D-0606-78CC-173C-E1E2D1D0E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D3020-A7B5-0DC4-929F-AECFAC69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B83C0-28BC-2F7E-5F5D-72D8535D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A72F-3858-858E-ADB9-61A39700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7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030D-BA4C-7F53-7932-B5FE1376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968C-E1B9-F3DA-ECD2-AA60FA74D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A3DF-618C-E6EB-1029-98E88756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70274-4244-3D44-0004-F262B1F9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6CF05-2787-D89B-42BB-C9EEE707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B87D-D5D2-7DFD-A912-982E7C0C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7A430-449B-649C-79C0-843F0F80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43848-3756-5D2C-B7C3-E1BDC09A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F09A-83E6-2C50-C4B6-9F93733D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DD41-10B2-28A9-D676-6F6258DC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05F8-1770-8694-47DA-9D7947F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D3EB-C596-BBEC-E1CB-94267C4B7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CA703-3AC0-EF5F-1964-D13B93B32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940C2-864E-D7B2-8947-A82FA928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D4F96-70B5-6AC3-101B-567EED60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50761-0350-189B-AC1E-99C217ED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EB9E-8533-7663-A9DF-222F8245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8D49E-5B4B-B705-E72D-C0F0011A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C2F5E-C7DE-2C1C-EFD0-0F4049936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29674-2732-4677-3B05-6B612CDFF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D7368-204C-25CF-6A6B-D30BCEF6E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2F823-7968-4AB3-987C-40B9D279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529A2-538C-5936-D271-EA27C49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AB87B-D461-FB91-7935-692C71EF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48C1-E418-2D2B-25DA-DF6F297F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6BBE2-9239-7A20-DA7F-A412AECB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76CCB-BD59-F31F-3F0E-9C9A9129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ED66C-9964-32E4-4AFE-79A2F57E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3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649AF-155C-A324-7AE3-7B3D3B3C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E3795-AB5B-75E5-51D8-04BFB426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F8995-C022-D447-1830-D7C8BDBC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6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5C36-1C09-75B9-D1BB-1553D80C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24C66-AA3F-06F7-0B21-EE401CEC3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35C15-B01F-623F-26C6-B5D3EAEC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514B4-1D53-5477-E7CB-A055252E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15AED-87CC-B0D0-700E-DAB9578E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12FA-860C-D22A-3A49-AECBB55C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9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8C85-9364-3CF0-ED4F-4073F55D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BF6B8-866B-C4CE-E2BE-A7AD05B27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3354D-D94D-36DE-4307-180192282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CC6C3-8CDE-63C5-EE75-FD5EC3FD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89F4B-C6DF-499B-2667-AAA45078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D46B5-06FD-C7C2-C490-5F4E8BAC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5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1FD6-21EE-E381-E646-3874A924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A4400-C10E-61FF-9900-FECCA1D78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FA1BD-F239-08AA-3727-98C1E096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BFC6-8328-A245-B80E-814ECE27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C702-28E8-4954-6F97-43D39363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26104-C831-52DC-C0BB-D2B111E30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8E09C-DE56-8525-8EA2-A4380E1A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DDE39-B94B-CB1D-7FAA-86300A6E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44F4-048E-9F13-A4A3-F9B6B7CE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D26C-EF21-57FA-9F4A-A270B7E6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C1E5D-65FB-A7BA-36E3-F6D36A67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CE7CA-819C-01FC-C324-DD09B758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AC2D-9CF9-DAD9-F937-235B7370E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7626B-AFC6-4BB3-9555-16DDE12F04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BA3F-5E54-76CB-C0E4-575E5D8B7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21BD-9237-1586-027C-0BFAC749A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2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B52D-1352-433F-012C-4BB364425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 (SDP)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3C260-994C-C1D6-8F8D-32C6591AA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55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F556-F1A9-F88B-C320-17037824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962-DBE4-6505-2974-404A46BF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en-US" sz="5400" dirty="0" err="1"/>
              <a:t>Lakeflow</a:t>
            </a:r>
            <a:r>
              <a:rPr lang="en-US" sz="5400" dirty="0"/>
              <a:t> SDP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BF73F1-6AA7-9481-DF63-74E39708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8" b="8616"/>
          <a:stretch>
            <a:fillRect/>
          </a:stretch>
        </p:blipFill>
        <p:spPr>
          <a:xfrm>
            <a:off x="1473245" y="373948"/>
            <a:ext cx="9593027" cy="37466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E4A16-C0A6-4637-93D9-16F59EBA3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250" y="4352081"/>
            <a:ext cx="5890549" cy="1824882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Lakeflow</a:t>
            </a:r>
            <a:r>
              <a:rPr lang="en-US" dirty="0"/>
              <a:t> connect is not enabled in the Databricks COP.</a:t>
            </a:r>
          </a:p>
          <a:p>
            <a:r>
              <a:rPr lang="en-US" dirty="0"/>
              <a:t>Structured streaming is used for real time streaming (not an available use case at this time)</a:t>
            </a:r>
          </a:p>
          <a:p>
            <a:r>
              <a:rPr lang="en-US" dirty="0"/>
              <a:t>This demo will concentrate solely on </a:t>
            </a:r>
            <a:r>
              <a:rPr lang="en-US" dirty="0" err="1"/>
              <a:t>Lakeflow</a:t>
            </a:r>
            <a:r>
              <a:rPr lang="en-US" dirty="0"/>
              <a:t> Declarative Pipelines</a:t>
            </a:r>
          </a:p>
          <a:p>
            <a:endParaRPr lang="en-US" dirty="0"/>
          </a:p>
        </p:txBody>
      </p:sp>
      <p:sp>
        <p:nvSpPr>
          <p:cNvPr id="5" name="General_Fill_4">
            <a:extLst>
              <a:ext uri="{FF2B5EF4-FFF2-40B4-BE49-F238E27FC236}">
                <a16:creationId xmlns:a16="http://schemas.microsoft.com/office/drawing/2014/main" id="{5A48A799-947F-6C8C-D678-EC117B4FF5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81349" y="672942"/>
            <a:ext cx="629371" cy="629371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81 w 512"/>
              <a:gd name="T11" fmla="*/ 365 h 512"/>
              <a:gd name="T12" fmla="*/ 381 w 512"/>
              <a:gd name="T13" fmla="*/ 381 h 512"/>
              <a:gd name="T14" fmla="*/ 373 w 512"/>
              <a:gd name="T15" fmla="*/ 384 h 512"/>
              <a:gd name="T16" fmla="*/ 365 w 512"/>
              <a:gd name="T17" fmla="*/ 381 h 512"/>
              <a:gd name="T18" fmla="*/ 256 w 512"/>
              <a:gd name="T19" fmla="*/ 271 h 512"/>
              <a:gd name="T20" fmla="*/ 146 w 512"/>
              <a:gd name="T21" fmla="*/ 381 h 512"/>
              <a:gd name="T22" fmla="*/ 138 w 512"/>
              <a:gd name="T23" fmla="*/ 384 h 512"/>
              <a:gd name="T24" fmla="*/ 131 w 512"/>
              <a:gd name="T25" fmla="*/ 381 h 512"/>
              <a:gd name="T26" fmla="*/ 131 w 512"/>
              <a:gd name="T27" fmla="*/ 365 h 512"/>
              <a:gd name="T28" fmla="*/ 241 w 512"/>
              <a:gd name="T29" fmla="*/ 256 h 512"/>
              <a:gd name="T30" fmla="*/ 131 w 512"/>
              <a:gd name="T31" fmla="*/ 146 h 512"/>
              <a:gd name="T32" fmla="*/ 131 w 512"/>
              <a:gd name="T33" fmla="*/ 131 h 512"/>
              <a:gd name="T34" fmla="*/ 146 w 512"/>
              <a:gd name="T35" fmla="*/ 131 h 512"/>
              <a:gd name="T36" fmla="*/ 256 w 512"/>
              <a:gd name="T37" fmla="*/ 241 h 512"/>
              <a:gd name="T38" fmla="*/ 365 w 512"/>
              <a:gd name="T39" fmla="*/ 131 h 512"/>
              <a:gd name="T40" fmla="*/ 381 w 512"/>
              <a:gd name="T41" fmla="*/ 131 h 512"/>
              <a:gd name="T42" fmla="*/ 381 w 512"/>
              <a:gd name="T43" fmla="*/ 146 h 512"/>
              <a:gd name="T44" fmla="*/ 271 w 512"/>
              <a:gd name="T45" fmla="*/ 256 h 512"/>
              <a:gd name="T46" fmla="*/ 381 w 512"/>
              <a:gd name="T47" fmla="*/ 36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81" y="365"/>
                </a:moveTo>
                <a:cubicBezTo>
                  <a:pt x="385" y="370"/>
                  <a:pt x="385" y="376"/>
                  <a:pt x="381" y="381"/>
                </a:cubicBezTo>
                <a:cubicBezTo>
                  <a:pt x="378" y="383"/>
                  <a:pt x="376" y="384"/>
                  <a:pt x="373" y="384"/>
                </a:cubicBezTo>
                <a:cubicBezTo>
                  <a:pt x="370" y="384"/>
                  <a:pt x="368" y="383"/>
                  <a:pt x="365" y="381"/>
                </a:cubicBezTo>
                <a:cubicBezTo>
                  <a:pt x="256" y="271"/>
                  <a:pt x="256" y="271"/>
                  <a:pt x="256" y="271"/>
                </a:cubicBezTo>
                <a:cubicBezTo>
                  <a:pt x="146" y="381"/>
                  <a:pt x="146" y="381"/>
                  <a:pt x="146" y="381"/>
                </a:cubicBezTo>
                <a:cubicBezTo>
                  <a:pt x="144" y="383"/>
                  <a:pt x="141" y="384"/>
                  <a:pt x="138" y="384"/>
                </a:cubicBezTo>
                <a:cubicBezTo>
                  <a:pt x="136" y="384"/>
                  <a:pt x="133" y="383"/>
                  <a:pt x="131" y="381"/>
                </a:cubicBezTo>
                <a:cubicBezTo>
                  <a:pt x="127" y="376"/>
                  <a:pt x="127" y="370"/>
                  <a:pt x="131" y="365"/>
                </a:cubicBezTo>
                <a:cubicBezTo>
                  <a:pt x="241" y="256"/>
                  <a:pt x="241" y="256"/>
                  <a:pt x="241" y="256"/>
                </a:cubicBezTo>
                <a:cubicBezTo>
                  <a:pt x="131" y="146"/>
                  <a:pt x="131" y="146"/>
                  <a:pt x="131" y="146"/>
                </a:cubicBezTo>
                <a:cubicBezTo>
                  <a:pt x="127" y="142"/>
                  <a:pt x="127" y="135"/>
                  <a:pt x="131" y="131"/>
                </a:cubicBezTo>
                <a:cubicBezTo>
                  <a:pt x="135" y="127"/>
                  <a:pt x="142" y="127"/>
                  <a:pt x="146" y="131"/>
                </a:cubicBezTo>
                <a:cubicBezTo>
                  <a:pt x="256" y="241"/>
                  <a:pt x="256" y="241"/>
                  <a:pt x="256" y="241"/>
                </a:cubicBezTo>
                <a:cubicBezTo>
                  <a:pt x="365" y="131"/>
                  <a:pt x="365" y="131"/>
                  <a:pt x="365" y="131"/>
                </a:cubicBezTo>
                <a:cubicBezTo>
                  <a:pt x="370" y="127"/>
                  <a:pt x="376" y="127"/>
                  <a:pt x="381" y="131"/>
                </a:cubicBezTo>
                <a:cubicBezTo>
                  <a:pt x="385" y="135"/>
                  <a:pt x="385" y="142"/>
                  <a:pt x="381" y="146"/>
                </a:cubicBezTo>
                <a:cubicBezTo>
                  <a:pt x="271" y="256"/>
                  <a:pt x="271" y="256"/>
                  <a:pt x="271" y="256"/>
                </a:cubicBezTo>
                <a:lnTo>
                  <a:pt x="381" y="3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  <p:sp>
        <p:nvSpPr>
          <p:cNvPr id="6" name="General_Fill_4">
            <a:extLst>
              <a:ext uri="{FF2B5EF4-FFF2-40B4-BE49-F238E27FC236}">
                <a16:creationId xmlns:a16="http://schemas.microsoft.com/office/drawing/2014/main" id="{8334BCF3-0D85-FC73-6092-9F0FEF08104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96875" y="2730679"/>
            <a:ext cx="629371" cy="629371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81 w 512"/>
              <a:gd name="T11" fmla="*/ 365 h 512"/>
              <a:gd name="T12" fmla="*/ 381 w 512"/>
              <a:gd name="T13" fmla="*/ 381 h 512"/>
              <a:gd name="T14" fmla="*/ 373 w 512"/>
              <a:gd name="T15" fmla="*/ 384 h 512"/>
              <a:gd name="T16" fmla="*/ 365 w 512"/>
              <a:gd name="T17" fmla="*/ 381 h 512"/>
              <a:gd name="T18" fmla="*/ 256 w 512"/>
              <a:gd name="T19" fmla="*/ 271 h 512"/>
              <a:gd name="T20" fmla="*/ 146 w 512"/>
              <a:gd name="T21" fmla="*/ 381 h 512"/>
              <a:gd name="T22" fmla="*/ 138 w 512"/>
              <a:gd name="T23" fmla="*/ 384 h 512"/>
              <a:gd name="T24" fmla="*/ 131 w 512"/>
              <a:gd name="T25" fmla="*/ 381 h 512"/>
              <a:gd name="T26" fmla="*/ 131 w 512"/>
              <a:gd name="T27" fmla="*/ 365 h 512"/>
              <a:gd name="T28" fmla="*/ 241 w 512"/>
              <a:gd name="T29" fmla="*/ 256 h 512"/>
              <a:gd name="T30" fmla="*/ 131 w 512"/>
              <a:gd name="T31" fmla="*/ 146 h 512"/>
              <a:gd name="T32" fmla="*/ 131 w 512"/>
              <a:gd name="T33" fmla="*/ 131 h 512"/>
              <a:gd name="T34" fmla="*/ 146 w 512"/>
              <a:gd name="T35" fmla="*/ 131 h 512"/>
              <a:gd name="T36" fmla="*/ 256 w 512"/>
              <a:gd name="T37" fmla="*/ 241 h 512"/>
              <a:gd name="T38" fmla="*/ 365 w 512"/>
              <a:gd name="T39" fmla="*/ 131 h 512"/>
              <a:gd name="T40" fmla="*/ 381 w 512"/>
              <a:gd name="T41" fmla="*/ 131 h 512"/>
              <a:gd name="T42" fmla="*/ 381 w 512"/>
              <a:gd name="T43" fmla="*/ 146 h 512"/>
              <a:gd name="T44" fmla="*/ 271 w 512"/>
              <a:gd name="T45" fmla="*/ 256 h 512"/>
              <a:gd name="T46" fmla="*/ 381 w 512"/>
              <a:gd name="T47" fmla="*/ 36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81" y="365"/>
                </a:moveTo>
                <a:cubicBezTo>
                  <a:pt x="385" y="370"/>
                  <a:pt x="385" y="376"/>
                  <a:pt x="381" y="381"/>
                </a:cubicBezTo>
                <a:cubicBezTo>
                  <a:pt x="378" y="383"/>
                  <a:pt x="376" y="384"/>
                  <a:pt x="373" y="384"/>
                </a:cubicBezTo>
                <a:cubicBezTo>
                  <a:pt x="370" y="384"/>
                  <a:pt x="368" y="383"/>
                  <a:pt x="365" y="381"/>
                </a:cubicBezTo>
                <a:cubicBezTo>
                  <a:pt x="256" y="271"/>
                  <a:pt x="256" y="271"/>
                  <a:pt x="256" y="271"/>
                </a:cubicBezTo>
                <a:cubicBezTo>
                  <a:pt x="146" y="381"/>
                  <a:pt x="146" y="381"/>
                  <a:pt x="146" y="381"/>
                </a:cubicBezTo>
                <a:cubicBezTo>
                  <a:pt x="144" y="383"/>
                  <a:pt x="141" y="384"/>
                  <a:pt x="138" y="384"/>
                </a:cubicBezTo>
                <a:cubicBezTo>
                  <a:pt x="136" y="384"/>
                  <a:pt x="133" y="383"/>
                  <a:pt x="131" y="381"/>
                </a:cubicBezTo>
                <a:cubicBezTo>
                  <a:pt x="127" y="376"/>
                  <a:pt x="127" y="370"/>
                  <a:pt x="131" y="365"/>
                </a:cubicBezTo>
                <a:cubicBezTo>
                  <a:pt x="241" y="256"/>
                  <a:pt x="241" y="256"/>
                  <a:pt x="241" y="256"/>
                </a:cubicBezTo>
                <a:cubicBezTo>
                  <a:pt x="131" y="146"/>
                  <a:pt x="131" y="146"/>
                  <a:pt x="131" y="146"/>
                </a:cubicBezTo>
                <a:cubicBezTo>
                  <a:pt x="127" y="142"/>
                  <a:pt x="127" y="135"/>
                  <a:pt x="131" y="131"/>
                </a:cubicBezTo>
                <a:cubicBezTo>
                  <a:pt x="135" y="127"/>
                  <a:pt x="142" y="127"/>
                  <a:pt x="146" y="131"/>
                </a:cubicBezTo>
                <a:cubicBezTo>
                  <a:pt x="256" y="241"/>
                  <a:pt x="256" y="241"/>
                  <a:pt x="256" y="241"/>
                </a:cubicBezTo>
                <a:cubicBezTo>
                  <a:pt x="365" y="131"/>
                  <a:pt x="365" y="131"/>
                  <a:pt x="365" y="131"/>
                </a:cubicBezTo>
                <a:cubicBezTo>
                  <a:pt x="370" y="127"/>
                  <a:pt x="376" y="127"/>
                  <a:pt x="381" y="131"/>
                </a:cubicBezTo>
                <a:cubicBezTo>
                  <a:pt x="385" y="135"/>
                  <a:pt x="385" y="142"/>
                  <a:pt x="381" y="146"/>
                </a:cubicBezTo>
                <a:cubicBezTo>
                  <a:pt x="271" y="256"/>
                  <a:pt x="271" y="256"/>
                  <a:pt x="271" y="256"/>
                </a:cubicBezTo>
                <a:lnTo>
                  <a:pt x="381" y="3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  <p:sp>
        <p:nvSpPr>
          <p:cNvPr id="8" name="General_Fill_3">
            <a:extLst>
              <a:ext uri="{FF2B5EF4-FFF2-40B4-BE49-F238E27FC236}">
                <a16:creationId xmlns:a16="http://schemas.microsoft.com/office/drawing/2014/main" id="{F1E1C9B9-9B6C-2F48-5FA4-B29823BFB59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81349" y="1698996"/>
            <a:ext cx="635000" cy="635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643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AEE7-5018-5066-3EBC-53FE35BE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dirty="0" err="1"/>
              <a:t>Lakeflow</a:t>
            </a:r>
            <a:r>
              <a:rPr lang="en-US" dirty="0"/>
              <a:t> Spark Declarative Pipelines?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711C-B5BF-AA20-900C-199E092F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SDP in Databricks is a declarative framework for building and running batch and streaming data pipelines using Spark SQL or Python. </a:t>
            </a:r>
          </a:p>
          <a:p>
            <a:r>
              <a:rPr lang="en-US" dirty="0"/>
              <a:t>You declare the desired data transformations and outputs (tables, views, sinks) in the form of expectations</a:t>
            </a:r>
          </a:p>
          <a:p>
            <a:r>
              <a:rPr lang="en-US" dirty="0"/>
              <a:t>SDP automatically handles execution order, parallelism, incremental processing, and failure retries.</a:t>
            </a:r>
          </a:p>
          <a:p>
            <a:r>
              <a:rPr lang="en-US" dirty="0"/>
              <a:t>Dependency on Databricks serverless compute</a:t>
            </a:r>
          </a:p>
          <a:p>
            <a:r>
              <a:rPr lang="en-US" dirty="0"/>
              <a:t>Implement streaming tables and materialized views</a:t>
            </a:r>
          </a:p>
          <a:p>
            <a:r>
              <a:rPr lang="en-US" dirty="0">
                <a:solidFill>
                  <a:srgbClr val="FF0000"/>
                </a:solidFill>
              </a:rPr>
              <a:t>[PENDING IRS validation]</a:t>
            </a:r>
          </a:p>
        </p:txBody>
      </p:sp>
    </p:spTree>
    <p:extLst>
      <p:ext uri="{BB962C8B-B14F-4D97-AF65-F5344CB8AC3E}">
        <p14:creationId xmlns:p14="http://schemas.microsoft.com/office/powerpoint/2010/main" val="100971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9742-1116-AF6D-56F9-B437AE44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CD17-87BB-C57B-6B57-4C267130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Main Concepts</a:t>
            </a:r>
          </a:p>
          <a:p>
            <a:r>
              <a:rPr lang="en-US" b="1" dirty="0"/>
              <a:t>Flows</a:t>
            </a:r>
            <a:r>
              <a:rPr lang="en-US" dirty="0"/>
              <a:t> – Core processing units (batch or streaming) that read from sources, apply logic, and write to targets.</a:t>
            </a:r>
          </a:p>
          <a:p>
            <a:r>
              <a:rPr lang="en-US" b="1" dirty="0"/>
              <a:t>Streaming Tables</a:t>
            </a:r>
            <a:r>
              <a:rPr lang="en-US" dirty="0"/>
              <a:t> – Unity Catalog managed tables with continuous ingestion (Append or AUTO CDC).</a:t>
            </a:r>
          </a:p>
          <a:p>
            <a:r>
              <a:rPr lang="en-US" b="1" dirty="0"/>
              <a:t>Materialized Views</a:t>
            </a:r>
            <a:r>
              <a:rPr lang="en-US" dirty="0"/>
              <a:t> – Batch targets that process only new/changed data.</a:t>
            </a:r>
          </a:p>
          <a:p>
            <a:r>
              <a:rPr lang="en-US" b="1" dirty="0"/>
              <a:t>Sinks</a:t>
            </a:r>
            <a:r>
              <a:rPr lang="en-US" dirty="0"/>
              <a:t> – External streaming targets like Delta tables, Kafka, </a:t>
            </a:r>
            <a:r>
              <a:rPr lang="en-US" dirty="0" err="1"/>
              <a:t>EventHubs</a:t>
            </a:r>
            <a:r>
              <a:rPr lang="en-US" dirty="0"/>
              <a:t>, or custom Python outputs.</a:t>
            </a:r>
          </a:p>
          <a:p>
            <a:r>
              <a:rPr lang="en-US" b="1" dirty="0"/>
              <a:t>Pipelines</a:t>
            </a:r>
            <a:r>
              <a:rPr lang="en-US" dirty="0"/>
              <a:t> – The top-level execution unit containing flows, tables, views, and sinks.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2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AFA-59DD-E290-ED8F-2FE4CAF6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1ADA-904C-F8FB-BA7A-A391E4DA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Benefits</a:t>
            </a:r>
            <a:endParaRPr lang="en-US" dirty="0"/>
          </a:p>
          <a:p>
            <a:r>
              <a:rPr lang="en-US" b="1" dirty="0"/>
              <a:t>Automatic orchestration</a:t>
            </a:r>
            <a:r>
              <a:rPr lang="en-US" dirty="0"/>
              <a:t> of flows with retries at task, flow, and pipeline levels.</a:t>
            </a:r>
          </a:p>
          <a:p>
            <a:r>
              <a:rPr lang="en-US" b="1" dirty="0"/>
              <a:t>Declarative processing</a:t>
            </a:r>
            <a:r>
              <a:rPr lang="en-US" dirty="0"/>
              <a:t> that reduces complex Spark/Structured Streaming code to a few lines.</a:t>
            </a:r>
          </a:p>
          <a:p>
            <a:r>
              <a:rPr lang="en-US" b="1" dirty="0"/>
              <a:t>Incremental processing</a:t>
            </a:r>
            <a:r>
              <a:rPr lang="en-US" dirty="0"/>
              <a:t> for materialized views to avoid reprocessing unchanged data.</a:t>
            </a:r>
          </a:p>
          <a:p>
            <a:r>
              <a:rPr lang="en-US" b="1" dirty="0"/>
              <a:t>Built-in CDC handling</a:t>
            </a:r>
            <a:r>
              <a:rPr lang="en-US" dirty="0"/>
              <a:t> via </a:t>
            </a:r>
            <a:r>
              <a:rPr lang="en-US" b="1" dirty="0"/>
              <a:t>AUTO CDC</a:t>
            </a:r>
            <a:r>
              <a:rPr lang="en-US" dirty="0"/>
              <a:t> for SCD Type 1 &amp; 2 without manual watermark/event ordering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0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CE4E-09DB-E6D5-1387-EEB42307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Application Programming Interface</a:t>
            </a:r>
            <a:br>
              <a:rPr lang="en-US" dirty="0"/>
            </a:br>
            <a:r>
              <a:rPr lang="en-US" dirty="0"/>
              <a:t>UAPI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158F-2C24-3958-9CC8-A38C0AAF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Unified API is an innovative type of application programming interface (API) designed to empower developers with seamless access to information from multiple sources through a single interface. In simpler terms, a unified API streamlines and accelerates the process of fetching data from diverse databases, applications, systems, and even different APIs.</a:t>
            </a:r>
          </a:p>
        </p:txBody>
      </p:sp>
    </p:spTree>
    <p:extLst>
      <p:ext uri="{BB962C8B-B14F-4D97-AF65-F5344CB8AC3E}">
        <p14:creationId xmlns:p14="http://schemas.microsoft.com/office/powerpoint/2010/main" val="186678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39A3-F897-2D76-D4DC-B7F2ECBD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AA053-B992-963F-D417-8F5ABE25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A43C82-EA0F-AAF9-067B-3654DB6868E0}"/>
              </a:ext>
            </a:extLst>
          </p:cNvPr>
          <p:cNvGrpSpPr/>
          <p:nvPr/>
        </p:nvGrpSpPr>
        <p:grpSpPr>
          <a:xfrm>
            <a:off x="1513835" y="1261760"/>
            <a:ext cx="9164329" cy="4334480"/>
            <a:chOff x="1513835" y="1261760"/>
            <a:chExt cx="9164329" cy="4334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8DF4C2-5355-4633-0B1F-CE31CC2AB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835" y="1261760"/>
              <a:ext cx="9164329" cy="43344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6BC3D4-855F-1B3D-0D37-7077CB0DFE17}"/>
                </a:ext>
              </a:extLst>
            </p:cNvPr>
            <p:cNvSpPr/>
            <p:nvPr/>
          </p:nvSpPr>
          <p:spPr>
            <a:xfrm>
              <a:off x="6096000" y="2997843"/>
              <a:ext cx="4541134" cy="894219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EC0B2A-0661-F443-36EC-50C7EEB94DBC}"/>
                </a:ext>
              </a:extLst>
            </p:cNvPr>
            <p:cNvSpPr/>
            <p:nvPr/>
          </p:nvSpPr>
          <p:spPr>
            <a:xfrm>
              <a:off x="6137030" y="4026999"/>
              <a:ext cx="4541134" cy="894219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28BB48-5E28-B3C5-9E1A-8962CDAE7306}"/>
                </a:ext>
              </a:extLst>
            </p:cNvPr>
            <p:cNvSpPr/>
            <p:nvPr/>
          </p:nvSpPr>
          <p:spPr>
            <a:xfrm>
              <a:off x="9566031" y="4788697"/>
              <a:ext cx="1112133" cy="28492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SCD1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072BE7-4137-1975-DCCA-F89568D62088}"/>
                </a:ext>
              </a:extLst>
            </p:cNvPr>
            <p:cNvSpPr/>
            <p:nvPr/>
          </p:nvSpPr>
          <p:spPr>
            <a:xfrm>
              <a:off x="9525001" y="2688540"/>
              <a:ext cx="1112133" cy="28492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SCD2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08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BB138-EFA6-CC3F-0132-6BCC2B77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F57B55-B3DB-7317-6D0F-3F45A78E0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7034B-0DC9-AE06-D38B-28A033B0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5114536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Lakeflow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Declarative pipelines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0B5AFE-C06A-9117-EA67-1B31F83E4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96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C975-7C2D-1814-9423-2C9F06E9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53D9-E445-5FF3-8F3A-6CE8D9B48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Streaming is an API for incremental stream processing in near real-time. It provides strong performance, scalability, and fault tolerance.</a:t>
            </a:r>
          </a:p>
          <a:p>
            <a:endParaRPr lang="en-US" dirty="0"/>
          </a:p>
          <a:p>
            <a:r>
              <a:rPr lang="en-US" dirty="0"/>
              <a:t>Delta table streaming reads and writes</a:t>
            </a:r>
          </a:p>
          <a:p>
            <a:pPr lvl="1"/>
            <a:r>
              <a:rPr lang="en-US" dirty="0"/>
              <a:t>SCD1</a:t>
            </a:r>
          </a:p>
          <a:p>
            <a:pPr lvl="1"/>
            <a:r>
              <a:rPr lang="en-US" dirty="0"/>
              <a:t>SCD2</a:t>
            </a:r>
          </a:p>
        </p:txBody>
      </p:sp>
    </p:spTree>
    <p:extLst>
      <p:ext uri="{BB962C8B-B14F-4D97-AF65-F5344CB8AC3E}">
        <p14:creationId xmlns:p14="http://schemas.microsoft.com/office/powerpoint/2010/main" val="289474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8F4E5-F438-1545-D0C7-CA60A5E7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E849AD-9135-4DB3-6FCD-71C18F31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1E61F-3FED-0032-B0CC-28D8CB25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Structured Streaming Demo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C93A61-4F15-9EFC-15D5-FB82FC379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0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AEE7-5018-5066-3EBC-53FE35BE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711C-B5BF-AA20-900C-199E092F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 builds on Structured Streaming, offering a declarative framework for creating data pipelines. You can define the transformations to perform on your data, and </a:t>
            </a:r>
            <a:r>
              <a:rPr lang="en-US" dirty="0" err="1"/>
              <a:t>Lakeflow</a:t>
            </a:r>
            <a:r>
              <a:rPr lang="en-US" dirty="0"/>
              <a:t> Spark Declarative Pipelines manages orchestration, monitoring, data quality, errors, and more. Therefore, it offers more automation and less overhead than Structured Streaming.</a:t>
            </a:r>
          </a:p>
        </p:txBody>
      </p:sp>
    </p:spTree>
    <p:extLst>
      <p:ext uri="{BB962C8B-B14F-4D97-AF65-F5344CB8AC3E}">
        <p14:creationId xmlns:p14="http://schemas.microsoft.com/office/powerpoint/2010/main" val="44872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76F31-FD49-2F4B-EB1B-BEE51A03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E46469-51E3-88A0-1DA4-B9D05860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59694-452B-9C6E-C654-7DD327B2F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5114536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Lakeflow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Declarative pipelines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6976AD-822E-270A-A964-737148CC0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82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29E38-E1B0-CD7D-4565-8E8CB3A05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What is Lakeflow connect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6F1A-12A2-B59C-71E6-2DDD9FA53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Lakeflow Connect offers simple and efficient connectors to ingest data from local files, popular enterprise applications, databases, cloud storage, message buses, and more.</a:t>
            </a:r>
          </a:p>
          <a:p>
            <a:endParaRPr lang="en-US" sz="1800"/>
          </a:p>
        </p:txBody>
      </p:sp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CEEFC052-3C40-B591-E547-374846BD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76"/>
          <a:stretch>
            <a:fillRect/>
          </a:stretch>
        </p:blipFill>
        <p:spPr>
          <a:xfrm>
            <a:off x="358636" y="3290481"/>
            <a:ext cx="5481509" cy="195090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DABF43-D8B4-3D9D-D175-FF4BD9F7D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47722"/>
              </p:ext>
            </p:extLst>
          </p:nvPr>
        </p:nvGraphicFramePr>
        <p:xfrm>
          <a:off x="5949387" y="2546430"/>
          <a:ext cx="6053560" cy="434992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91532">
                  <a:extLst>
                    <a:ext uri="{9D8B030D-6E8A-4147-A177-3AD203B41FA5}">
                      <a16:colId xmlns:a16="http://schemas.microsoft.com/office/drawing/2014/main" val="3315090879"/>
                    </a:ext>
                  </a:extLst>
                </a:gridCol>
                <a:gridCol w="4462028">
                  <a:extLst>
                    <a:ext uri="{9D8B030D-6E8A-4147-A177-3AD203B41FA5}">
                      <a16:colId xmlns:a16="http://schemas.microsoft.com/office/drawing/2014/main" val="1710117643"/>
                    </a:ext>
                  </a:extLst>
                </a:gridCol>
              </a:tblGrid>
              <a:tr h="590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1">
                          <a:solidFill>
                            <a:srgbClr val="1B3139"/>
                          </a:solidFill>
                          <a:effectLst/>
                        </a:rPr>
                        <a:t>Option</a:t>
                      </a:r>
                    </a:p>
                  </a:txBody>
                  <a:tcPr marL="104758" marR="104758" marT="104758" marB="1047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1">
                          <a:solidFill>
                            <a:srgbClr val="1B3139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58" marR="104758" marT="104758" marB="104758" anchor="ctr"/>
                </a:tc>
                <a:extLst>
                  <a:ext uri="{0D108BD9-81ED-4DB2-BD59-A6C34878D82A}">
                    <a16:rowId xmlns:a16="http://schemas.microsoft.com/office/drawing/2014/main" val="221213144"/>
                  </a:ext>
                </a:extLst>
              </a:tr>
              <a:tr h="12475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2100">
                          <a:solidFill>
                            <a:srgbClr val="1B3139"/>
                          </a:solidFill>
                          <a:effectLst/>
                        </a:rPr>
                        <a:t>A fully-managed service</a:t>
                      </a:r>
                    </a:p>
                  </a:txBody>
                  <a:tcPr marL="104758" marR="104758" marT="104758" marB="104758"/>
                </a:tc>
                <a:tc>
                  <a:txBody>
                    <a:bodyPr/>
                    <a:lstStyle/>
                    <a:p>
                      <a:r>
                        <a:rPr lang="en-US" sz="2100" b="0" kern="1200">
                          <a:solidFill>
                            <a:schemeClr val="tx1"/>
                          </a:solidFill>
                          <a:effectLst/>
                        </a:rPr>
                        <a:t>Out-of-the-box connectors that democratize data access with simple UIs and powerful APIs.</a:t>
                      </a:r>
                      <a:endParaRPr lang="en-US" sz="2100"/>
                    </a:p>
                  </a:txBody>
                  <a:tcPr marL="104758" marR="104758" marT="52379" marB="52379"/>
                </a:tc>
                <a:extLst>
                  <a:ext uri="{0D108BD9-81ED-4DB2-BD59-A6C34878D82A}">
                    <a16:rowId xmlns:a16="http://schemas.microsoft.com/office/drawing/2014/main" val="2825286998"/>
                  </a:ext>
                </a:extLst>
              </a:tr>
              <a:tr h="2511413">
                <a:tc gridSpan="2"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Fully-managed connectors build on 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Lakeflow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Spark Declarative Pipelines, offering even more automation for the most popular data sources. They extend 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Lakeflow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Spark Declarative Pipelines functionality to also include source-specific authentication, CDC, edge case handling, long-term API maintenance, automated retries, automated schema evolution, and so on. Therefore, they offer even more automation for any supported data sources.</a:t>
                      </a:r>
                      <a:endParaRPr lang="en-US" sz="2100" dirty="0">
                        <a:solidFill>
                          <a:srgbClr val="1B3139"/>
                        </a:solidFill>
                        <a:effectLst/>
                      </a:endParaRPr>
                    </a:p>
                  </a:txBody>
                  <a:tcPr marL="104758" marR="104758" marT="104758" marB="104758"/>
                </a:tc>
                <a:tc hMerge="1"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4758" marR="104758" marT="52379" marB="52379"/>
                </a:tc>
                <a:extLst>
                  <a:ext uri="{0D108BD9-81ED-4DB2-BD59-A6C34878D82A}">
                    <a16:rowId xmlns:a16="http://schemas.microsoft.com/office/drawing/2014/main" val="179479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06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756D1-9A71-034F-2520-94402183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Lakeflow connect managed connectors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46E69-BEF2-48EF-8F65-80A5FDAFC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Fully Managed schema evolution</a:t>
            </a:r>
          </a:p>
          <a:p>
            <a:r>
              <a:rPr lang="en-US" sz="1800"/>
              <a:t>Lowers maintenance cost</a:t>
            </a:r>
          </a:p>
          <a:p>
            <a:r>
              <a:rPr lang="en-US" sz="1800"/>
              <a:t>Lowers time to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854AC-D339-E842-5BB0-ABCA3ABF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598004"/>
            <a:ext cx="6440424" cy="360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61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A6AE3-AF55-2EAA-92D0-123494EF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Lakeflow Connector Demo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96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2a40d8f-6ef3-48a2-bebd-2dfe174e13df" xsi:nil="true"/>
    <lcf76f155ced4ddcb4097134ff3c332f xmlns="22a40d8f-6ef3-48a2-bebd-2dfe174e13df">
      <Terms xmlns="http://schemas.microsoft.com/office/infopath/2007/PartnerControls"/>
    </lcf76f155ced4ddcb4097134ff3c332f>
    <DeliveryDate xmlns="22a40d8f-6ef3-48a2-bebd-2dfe174e13df" xsi:nil="true"/>
    <Status xmlns="22a40d8f-6ef3-48a2-bebd-2dfe174e13df" xsi:nil="true"/>
    <TaxCatchAll xmlns="c09bd0b7-fe3a-4d70-8360-1922a857c78e" xsi:nil="true"/>
    <TechLeadPOC xmlns="22a40d8f-6ef3-48a2-bebd-2dfe174e13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6E578652641A4DBB281649216B92C4" ma:contentTypeVersion="24" ma:contentTypeDescription="Create a new document." ma:contentTypeScope="" ma:versionID="1bca929db10a8c8cdfda3d60ad0de47b">
  <xsd:schema xmlns:xsd="http://www.w3.org/2001/XMLSchema" xmlns:xs="http://www.w3.org/2001/XMLSchema" xmlns:p="http://schemas.microsoft.com/office/2006/metadata/properties" xmlns:ns2="22a40d8f-6ef3-48a2-bebd-2dfe174e13df" xmlns:ns3="c09bd0b7-fe3a-4d70-8360-1922a857c78e" targetNamespace="http://schemas.microsoft.com/office/2006/metadata/properties" ma:root="true" ma:fieldsID="7538d027c2eed4fd0027ea39fb4ccd24" ns2:_="" ns3:_="">
    <xsd:import namespace="22a40d8f-6ef3-48a2-bebd-2dfe174e13df"/>
    <xsd:import namespace="c09bd0b7-fe3a-4d70-8360-1922a857c7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Note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DeliveryDate" minOccurs="0"/>
                <xsd:element ref="ns2:TechLeadPOC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40d8f-6ef3-48a2-bebd-2dfe174e13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Notes" ma:index="21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7" nillable="true" ma:displayName="Status" ma:description="Select the most current applicable status of the file" ma:format="Dropdown" ma:internalName="Status">
      <xsd:simpleType>
        <xsd:restriction base="dms:Choice">
          <xsd:enumeration value="Not Started"/>
          <xsd:enumeration value="In-Progress"/>
          <xsd:enumeration value="Finalized"/>
          <xsd:enumeration value="Delivered"/>
        </xsd:restriction>
      </xsd:simpleType>
    </xsd:element>
    <xsd:element name="DeliveryDate" ma:index="28" nillable="true" ma:displayName="Delivery Date" ma:description="Input the expected delivery date for all files with a status of &quot;In-Progress&quot; or &quot;Finalized&quot;. Input actual delivery for files with a status of &quot;Delivered&quot;" ma:format="DateOnly" ma:internalName="DeliveryDate">
      <xsd:simpleType>
        <xsd:restriction base="dms:DateTime"/>
      </xsd:simpleType>
    </xsd:element>
    <xsd:element name="TechLeadPOC" ma:index="29" nillable="true" ma:displayName="Tech Lead POC" ma:format="Dropdown" ma:internalName="TechLeadPOC">
      <xsd:simpleType>
        <xsd:restriction base="dms:Choice">
          <xsd:enumeration value="Derr, Nick"/>
          <xsd:enumeration value="Saugat"/>
          <xsd:enumeration value="Lou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bd0b7-fe3a-4d70-8360-1922a857c78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86ab5f3f-347c-46a6-932a-89c0b592823e}" ma:internalName="TaxCatchAll" ma:showField="CatchAllData" ma:web="c09bd0b7-fe3a-4d70-8360-1922a857c7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57EC91-7C17-4106-AA7F-664D43AD4202}">
  <ds:schemaRefs>
    <ds:schemaRef ds:uri="http://schemas.microsoft.com/office/2006/metadata/properties"/>
    <ds:schemaRef ds:uri="http://schemas.microsoft.com/office/infopath/2007/PartnerControls"/>
    <ds:schemaRef ds:uri="22a40d8f-6ef3-48a2-bebd-2dfe174e13df"/>
    <ds:schemaRef ds:uri="c09bd0b7-fe3a-4d70-8360-1922a857c78e"/>
  </ds:schemaRefs>
</ds:datastoreItem>
</file>

<file path=customXml/itemProps2.xml><?xml version="1.0" encoding="utf-8"?>
<ds:datastoreItem xmlns:ds="http://schemas.openxmlformats.org/officeDocument/2006/customXml" ds:itemID="{F8CDD3A5-67A1-47EF-86BA-D862C72A0A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a40d8f-6ef3-48a2-bebd-2dfe174e13df"/>
    <ds:schemaRef ds:uri="c09bd0b7-fe3a-4d70-8360-1922a857c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7D24E2-7BE8-4505-AE75-D0526EBF4C1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598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Lakeflow Spark Declarative Pipelines (SDP)</vt:lpstr>
      <vt:lpstr>Lakeflow SDP</vt:lpstr>
      <vt:lpstr>What are Lakeflow Spark Declarative Pipelines?</vt:lpstr>
      <vt:lpstr>Lakeflow Spark Declarative Pipelines</vt:lpstr>
      <vt:lpstr>Lakeflow Spark Declarative Pipelines</vt:lpstr>
      <vt:lpstr>Universal Application Programming Interface UAPI</vt:lpstr>
      <vt:lpstr>PowerPoint Presentation</vt:lpstr>
      <vt:lpstr>Lakeflow Declarative pipelines Demo</vt:lpstr>
      <vt:lpstr>Structured Streaming</vt:lpstr>
      <vt:lpstr>Structured Streaming Demo</vt:lpstr>
      <vt:lpstr>Lakeflow declarative pipelines</vt:lpstr>
      <vt:lpstr>Lakeflow Declarative pipelines Demo</vt:lpstr>
      <vt:lpstr>What is Lakeflow connect</vt:lpstr>
      <vt:lpstr>Lakeflow connect managed connectors</vt:lpstr>
      <vt:lpstr>Lakeflow Connector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Martinez-Vega, Nell</dc:creator>
  <cp:lastModifiedBy>Leven, Phil</cp:lastModifiedBy>
  <cp:revision>5</cp:revision>
  <dcterms:created xsi:type="dcterms:W3CDTF">2026-01-12T17:50:06Z</dcterms:created>
  <dcterms:modified xsi:type="dcterms:W3CDTF">2026-01-29T19:19:54Z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0x010100E96E578652641A4DBB281649216B92C4</vt:lpwstr>
  </property>
</Properties>
</file>