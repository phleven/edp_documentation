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7" r:id="rId4"/>
    <p:sldId id="266" r:id="rId5"/>
    <p:sldId id="268" r:id="rId6"/>
    <p:sldId id="265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EB1A4-B71E-465F-B86D-A24CAB975B42}" v="25" dt="2026-01-21T19:44:45.490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6BC8-3D56-64A8-C23F-99C560F3B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A166D-0606-78CC-173C-E1E2D1D0E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D3020-A7B5-0DC4-929F-AECFAC69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B83C0-28BC-2F7E-5F5D-72D8535D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A72F-3858-858E-ADB9-61A39700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7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030D-BA4C-7F53-7932-B5FE1376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968C-E1B9-F3DA-ECD2-AA60FA74D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A3DF-618C-E6EB-1029-98E88756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70274-4244-3D44-0004-F262B1F9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6CF05-2787-D89B-42BB-C9EEE707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B87D-D5D2-7DFD-A912-982E7C0C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7A430-449B-649C-79C0-843F0F802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43848-3756-5D2C-B7C3-E1BDC09A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1F09A-83E6-2C50-C4B6-9F93733D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DD41-10B2-28A9-D676-6F6258DC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05F8-1770-8694-47DA-9D7947F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3D3EB-C596-BBEC-E1CB-94267C4B7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CA703-3AC0-EF5F-1964-D13B93B32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940C2-864E-D7B2-8947-A82FA928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D4F96-70B5-6AC3-101B-567EED60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50761-0350-189B-AC1E-99C217ED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EB9E-8533-7663-A9DF-222F82453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8D49E-5B4B-B705-E72D-C0F0011A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C2F5E-C7DE-2C1C-EFD0-0F4049936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29674-2732-4677-3B05-6B612CDFF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D7368-204C-25CF-6A6B-D30BCEF6E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2F823-7968-4AB3-987C-40B9D279E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529A2-538C-5936-D271-EA27C49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AB87B-D461-FB91-7935-692C71EF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4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48C1-E418-2D2B-25DA-DF6F297F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6BBE2-9239-7A20-DA7F-A412AECB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76CCB-BD59-F31F-3F0E-9C9A9129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ED66C-9964-32E4-4AFE-79A2F57E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3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649AF-155C-A324-7AE3-7B3D3B3C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E3795-AB5B-75E5-51D8-04BFB426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F8995-C022-D447-1830-D7C8BDBC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6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5C36-1C09-75B9-D1BB-1553D80C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24C66-AA3F-06F7-0B21-EE401CEC3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35C15-B01F-623F-26C6-B5D3EAEC1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514B4-1D53-5477-E7CB-A055252E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15AED-87CC-B0D0-700E-DAB9578E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212FA-860C-D22A-3A49-AECBB55C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9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28C85-9364-3CF0-ED4F-4073F55D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BF6B8-866B-C4CE-E2BE-A7AD05B27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3354D-D94D-36DE-4307-180192282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CC6C3-8CDE-63C5-EE75-FD5EC3FD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89F4B-C6DF-499B-2667-AAA45078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D46B5-06FD-C7C2-C490-5F4E8BAC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5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1FD6-21EE-E381-E646-3874A924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A4400-C10E-61FF-9900-FECCA1D78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FA1BD-F239-08AA-3727-98C1E096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BFC6-8328-A245-B80E-814ECE27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C702-28E8-4954-6F97-43D39363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26104-C831-52DC-C0BB-D2B111E30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8E09C-DE56-8525-8EA2-A4380E1A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DDE39-B94B-CB1D-7FAA-86300A6E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44F4-048E-9F13-A4A3-F9B6B7CE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D26C-EF21-57FA-9F4A-A270B7E6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C1E5D-65FB-A7BA-36E3-F6D36A67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CE7CA-819C-01FC-C324-DD09B758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AC2D-9CF9-DAD9-F937-235B7370E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7626B-AFC6-4BB3-9555-16DDE12F04A1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BA3F-5E54-76CB-C0E4-575E5D8B7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21BD-9237-1586-027C-0BFAC749A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695B7-F02B-4936-A1E9-0E622277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2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B52D-1352-433F-012C-4BB364425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Lakeflow</a:t>
            </a:r>
            <a:r>
              <a:rPr lang="en-US" dirty="0"/>
              <a:t> Spark Declarative Pipelines with Auto CDC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E8373D-2E22-2FF1-938A-A76861980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55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AEE7-5018-5066-3EBC-53FE35BE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711C-B5BF-AA20-900C-199E092F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SDP in Databricks is a declarative framework for building and running batch and streaming data pipelines using SQL or Python. </a:t>
            </a:r>
          </a:p>
          <a:p>
            <a:r>
              <a:rPr lang="en-US" dirty="0"/>
              <a:t>It extends Apache Spark Declarative Pipelines but runs on the performance-optimized Databricks Runtime, integrating tightly with Unity Catalog and Databricks SQL.</a:t>
            </a:r>
          </a:p>
          <a:p>
            <a:r>
              <a:rPr lang="en-US" dirty="0"/>
              <a:t>Instead of manually orchestrating Spark jobs, you declare the desired data transformations and outputs (tables, views, sinks), and SDP automatically handles execution order, parallelism, incremental processing, and failure retries.</a:t>
            </a:r>
          </a:p>
          <a:p>
            <a:r>
              <a:rPr lang="en-US" dirty="0"/>
              <a:t>Dependency on Databricks serverless compute</a:t>
            </a:r>
          </a:p>
          <a:p>
            <a:r>
              <a:rPr lang="en-US" dirty="0"/>
              <a:t>Demo is using Databricks streaming tables</a:t>
            </a:r>
          </a:p>
          <a:p>
            <a:r>
              <a:rPr lang="en-US" dirty="0"/>
              <a:t>Currently we are using UAPI for data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44872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9742-1116-AF6D-56F9-B437AE44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CD17-87BB-C57B-6B57-4C267130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Main Concepts</a:t>
            </a:r>
          </a:p>
          <a:p>
            <a:r>
              <a:rPr lang="en-US" b="1" dirty="0"/>
              <a:t>Flows</a:t>
            </a:r>
            <a:r>
              <a:rPr lang="en-US" dirty="0"/>
              <a:t> – Core processing units (batch or streaming) that read from sources, apply logic, and write to targets.</a:t>
            </a:r>
          </a:p>
          <a:p>
            <a:r>
              <a:rPr lang="en-US" b="1" dirty="0"/>
              <a:t>Streaming Tables</a:t>
            </a:r>
            <a:r>
              <a:rPr lang="en-US" dirty="0"/>
              <a:t> – Unity Catalog managed tables with continuous ingestion (Append or AUTO CDC).</a:t>
            </a:r>
          </a:p>
          <a:p>
            <a:r>
              <a:rPr lang="en-US" b="1" dirty="0"/>
              <a:t>Materialized Views</a:t>
            </a:r>
            <a:r>
              <a:rPr lang="en-US" dirty="0"/>
              <a:t> – Batch targets that process only new/changed data.</a:t>
            </a:r>
          </a:p>
          <a:p>
            <a:r>
              <a:rPr lang="en-US" b="1" dirty="0"/>
              <a:t>Sinks</a:t>
            </a:r>
            <a:r>
              <a:rPr lang="en-US" dirty="0"/>
              <a:t> – External streaming targets like Delta tables, Kafka, </a:t>
            </a:r>
            <a:r>
              <a:rPr lang="en-US" dirty="0" err="1"/>
              <a:t>EventHubs</a:t>
            </a:r>
            <a:r>
              <a:rPr lang="en-US" dirty="0"/>
              <a:t>, or custom Python outputs.</a:t>
            </a:r>
          </a:p>
          <a:p>
            <a:r>
              <a:rPr lang="en-US" b="1" dirty="0"/>
              <a:t>Pipelines</a:t>
            </a:r>
            <a:r>
              <a:rPr lang="en-US" dirty="0"/>
              <a:t> – The top-level execution unit containing flows, tables, views, and sinks.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2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AFA-59DD-E290-ED8F-2FE4CAF6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Lakeflow</a:t>
            </a:r>
            <a:r>
              <a:rPr lang="en-US" dirty="0"/>
              <a:t> Spark Declarative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1ADA-904C-F8FB-BA7A-A391E4DA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Benefits</a:t>
            </a:r>
            <a:endParaRPr lang="en-US" dirty="0"/>
          </a:p>
          <a:p>
            <a:r>
              <a:rPr lang="en-US" b="1" dirty="0"/>
              <a:t>Automatic orchestration</a:t>
            </a:r>
            <a:r>
              <a:rPr lang="en-US" dirty="0"/>
              <a:t> of flows with retries at task, flow, and pipeline levels.</a:t>
            </a:r>
          </a:p>
          <a:p>
            <a:r>
              <a:rPr lang="en-US" b="1" dirty="0"/>
              <a:t>Declarative processing</a:t>
            </a:r>
            <a:r>
              <a:rPr lang="en-US" dirty="0"/>
              <a:t> that reduces complex Spark/Structured Streaming code to a few lines.</a:t>
            </a:r>
          </a:p>
          <a:p>
            <a:r>
              <a:rPr lang="en-US" b="1" dirty="0"/>
              <a:t>Incremental processing</a:t>
            </a:r>
            <a:r>
              <a:rPr lang="en-US" dirty="0"/>
              <a:t> for materialized views to avoid reprocessing unchanged data.</a:t>
            </a:r>
          </a:p>
          <a:p>
            <a:r>
              <a:rPr lang="en-US" b="1" dirty="0"/>
              <a:t>Built-in CDC handling</a:t>
            </a:r>
            <a:r>
              <a:rPr lang="en-US" dirty="0"/>
              <a:t> via </a:t>
            </a:r>
            <a:r>
              <a:rPr lang="en-US" b="1" dirty="0"/>
              <a:t>AUTO CDC</a:t>
            </a:r>
            <a:r>
              <a:rPr lang="en-US" dirty="0"/>
              <a:t> for SCD Type 1 &amp; 2 without manual watermark/event ordering logic.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0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CE4E-09DB-E6D5-1387-EEB42307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Application Programming Interface</a:t>
            </a:r>
            <a:br>
              <a:rPr lang="en-US" dirty="0"/>
            </a:br>
            <a:r>
              <a:rPr lang="en-US" dirty="0"/>
              <a:t>UAPI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158F-2C24-3958-9CC8-A38C0AAF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Unified API is an innovative type of application programming interface (API) designed to empower developers with seamless access to information from multiple sources through a single interface. In simpler terms, a unified API streamlines and accelerates the process of fetching data from diverse databases, applications, systems, and even different APIs.</a:t>
            </a:r>
          </a:p>
        </p:txBody>
      </p:sp>
    </p:spTree>
    <p:extLst>
      <p:ext uri="{BB962C8B-B14F-4D97-AF65-F5344CB8AC3E}">
        <p14:creationId xmlns:p14="http://schemas.microsoft.com/office/powerpoint/2010/main" val="1866781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39A3-F897-2D76-D4DC-B7F2ECBD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AA053-B992-963F-D417-8F5ABE25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A43C82-EA0F-AAF9-067B-3654DB6868E0}"/>
              </a:ext>
            </a:extLst>
          </p:cNvPr>
          <p:cNvGrpSpPr/>
          <p:nvPr/>
        </p:nvGrpSpPr>
        <p:grpSpPr>
          <a:xfrm>
            <a:off x="1513835" y="1261760"/>
            <a:ext cx="9164329" cy="4334480"/>
            <a:chOff x="1513835" y="1261760"/>
            <a:chExt cx="9164329" cy="4334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F8DF4C2-5355-4633-0B1F-CE31CC2AB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835" y="1261760"/>
              <a:ext cx="9164329" cy="433448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6BC3D4-855F-1B3D-0D37-7077CB0DFE17}"/>
                </a:ext>
              </a:extLst>
            </p:cNvPr>
            <p:cNvSpPr/>
            <p:nvPr/>
          </p:nvSpPr>
          <p:spPr>
            <a:xfrm>
              <a:off x="6096000" y="2997843"/>
              <a:ext cx="4541134" cy="894219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EC0B2A-0661-F443-36EC-50C7EEB94DBC}"/>
                </a:ext>
              </a:extLst>
            </p:cNvPr>
            <p:cNvSpPr/>
            <p:nvPr/>
          </p:nvSpPr>
          <p:spPr>
            <a:xfrm>
              <a:off x="6137030" y="4026999"/>
              <a:ext cx="4541134" cy="894219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28BB48-5E28-B3C5-9E1A-8962CDAE7306}"/>
                </a:ext>
              </a:extLst>
            </p:cNvPr>
            <p:cNvSpPr/>
            <p:nvPr/>
          </p:nvSpPr>
          <p:spPr>
            <a:xfrm>
              <a:off x="9566031" y="4788697"/>
              <a:ext cx="1112133" cy="28492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SCD1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072BE7-4137-1975-DCCA-F89568D62088}"/>
                </a:ext>
              </a:extLst>
            </p:cNvPr>
            <p:cNvSpPr/>
            <p:nvPr/>
          </p:nvSpPr>
          <p:spPr>
            <a:xfrm>
              <a:off x="9525001" y="2688540"/>
              <a:ext cx="1112133" cy="28492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SCD2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088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76F31-FD49-2F4B-EB1B-BEE51A03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E46469-51E3-88A0-1DA4-B9D05860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59694-452B-9C6E-C654-7DD327B2F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5114536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Lakeflow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Declarative pipelines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6976AD-822E-270A-A964-737148CC0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82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345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Lakeflow Spark Declarative Pipelines with Auto CDC</vt:lpstr>
      <vt:lpstr>Lakeflow Spark Declarative Pipelines</vt:lpstr>
      <vt:lpstr>Lakeflow Spark Declarative Pipelines</vt:lpstr>
      <vt:lpstr>Lakeflow Spark Declarative Pipelines</vt:lpstr>
      <vt:lpstr>Universal Application Programming Interface UAPI</vt:lpstr>
      <vt:lpstr>Data flow</vt:lpstr>
      <vt:lpstr>Lakeflow Declarative pipelines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Martinez-Vega, Nell</dc:creator>
  <cp:lastModifiedBy>Leven, Phil</cp:lastModifiedBy>
  <cp:revision>14</cp:revision>
  <dcterms:created xsi:type="dcterms:W3CDTF">2026-01-12T17:50:06Z</dcterms:created>
  <dcterms:modified xsi:type="dcterms:W3CDTF">2026-01-23T17:14:47Z</dcterms:modified>
</cp:coreProperties>
</file>